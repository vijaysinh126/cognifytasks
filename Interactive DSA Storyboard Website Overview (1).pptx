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tkinson Hyperlegible" panose="020B0604020202020204" charset="0"/>
      <p:regular r:id="rId11"/>
    </p:embeddedFont>
    <p:embeddedFont>
      <p:font typeface="Tropika"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79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2.sv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2.sv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2.sv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12.sv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12.sv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12.svg"/><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svg"/><Relationship Id="rId7" Type="http://schemas.openxmlformats.org/officeDocument/2006/relationships/image" Target="../media/image40.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svg"/><Relationship Id="rId9"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14481735" y="-631532"/>
            <a:ext cx="5144381" cy="4507764"/>
          </a:xfrm>
          <a:custGeom>
            <a:avLst/>
            <a:gdLst/>
            <a:ahLst/>
            <a:cxnLst/>
            <a:rect l="l" t="t" r="r" b="b"/>
            <a:pathLst>
              <a:path w="5144381" h="4507764">
                <a:moveTo>
                  <a:pt x="0" y="0"/>
                </a:moveTo>
                <a:lnTo>
                  <a:pt x="5144381" y="0"/>
                </a:lnTo>
                <a:lnTo>
                  <a:pt x="5144381" y="4507763"/>
                </a:lnTo>
                <a:lnTo>
                  <a:pt x="0" y="4507763"/>
                </a:lnTo>
                <a:lnTo>
                  <a:pt x="0" y="0"/>
                </a:lnTo>
                <a:close/>
              </a:path>
            </a:pathLst>
          </a:custGeom>
          <a:blipFill>
            <a:blip r:embed="rId2"/>
            <a:stretch>
              <a:fillRect/>
            </a:stretch>
          </a:blipFill>
        </p:spPr>
      </p:sp>
      <p:sp>
        <p:nvSpPr>
          <p:cNvPr id="3" name="Freeform 3"/>
          <p:cNvSpPr/>
          <p:nvPr/>
        </p:nvSpPr>
        <p:spPr>
          <a:xfrm>
            <a:off x="679915" y="4467003"/>
            <a:ext cx="1436576" cy="1352994"/>
          </a:xfrm>
          <a:custGeom>
            <a:avLst/>
            <a:gdLst/>
            <a:ahLst/>
            <a:cxnLst/>
            <a:rect l="l" t="t" r="r" b="b"/>
            <a:pathLst>
              <a:path w="1436576" h="1352994">
                <a:moveTo>
                  <a:pt x="0" y="0"/>
                </a:moveTo>
                <a:lnTo>
                  <a:pt x="1436576" y="0"/>
                </a:lnTo>
                <a:lnTo>
                  <a:pt x="1436576" y="1352994"/>
                </a:lnTo>
                <a:lnTo>
                  <a:pt x="0" y="135299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6062724" y="4819038"/>
            <a:ext cx="1459177" cy="1783439"/>
          </a:xfrm>
          <a:custGeom>
            <a:avLst/>
            <a:gdLst/>
            <a:ahLst/>
            <a:cxnLst/>
            <a:rect l="l" t="t" r="r" b="b"/>
            <a:pathLst>
              <a:path w="1459177" h="1783439">
                <a:moveTo>
                  <a:pt x="0" y="0"/>
                </a:moveTo>
                <a:lnTo>
                  <a:pt x="1459177" y="0"/>
                </a:lnTo>
                <a:lnTo>
                  <a:pt x="1459177" y="1783439"/>
                </a:lnTo>
                <a:lnTo>
                  <a:pt x="0" y="17834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3936831" y="7027382"/>
            <a:ext cx="5725867" cy="4158411"/>
          </a:xfrm>
          <a:custGeom>
            <a:avLst/>
            <a:gdLst/>
            <a:ahLst/>
            <a:cxnLst/>
            <a:rect l="l" t="t" r="r" b="b"/>
            <a:pathLst>
              <a:path w="5725867" h="4158411">
                <a:moveTo>
                  <a:pt x="0" y="0"/>
                </a:moveTo>
                <a:lnTo>
                  <a:pt x="5725867" y="0"/>
                </a:lnTo>
                <a:lnTo>
                  <a:pt x="5725867" y="4158411"/>
                </a:lnTo>
                <a:lnTo>
                  <a:pt x="0" y="4158411"/>
                </a:lnTo>
                <a:lnTo>
                  <a:pt x="0" y="0"/>
                </a:lnTo>
                <a:close/>
              </a:path>
            </a:pathLst>
          </a:custGeom>
          <a:blipFill>
            <a:blip r:embed="rId5"/>
            <a:stretch>
              <a:fillRect/>
            </a:stretch>
          </a:blipFill>
        </p:spPr>
      </p:sp>
      <p:sp>
        <p:nvSpPr>
          <p:cNvPr id="6" name="Freeform 6"/>
          <p:cNvSpPr/>
          <p:nvPr/>
        </p:nvSpPr>
        <p:spPr>
          <a:xfrm rot="1195304">
            <a:off x="129878" y="-932356"/>
            <a:ext cx="3642482" cy="3970007"/>
          </a:xfrm>
          <a:custGeom>
            <a:avLst/>
            <a:gdLst/>
            <a:ahLst/>
            <a:cxnLst/>
            <a:rect l="l" t="t" r="r" b="b"/>
            <a:pathLst>
              <a:path w="3642482" h="3970007">
                <a:moveTo>
                  <a:pt x="0" y="0"/>
                </a:moveTo>
                <a:lnTo>
                  <a:pt x="3642481" y="0"/>
                </a:lnTo>
                <a:lnTo>
                  <a:pt x="3642481" y="3970007"/>
                </a:lnTo>
                <a:lnTo>
                  <a:pt x="0" y="3970007"/>
                </a:lnTo>
                <a:lnTo>
                  <a:pt x="0" y="0"/>
                </a:lnTo>
                <a:close/>
              </a:path>
            </a:pathLst>
          </a:custGeom>
          <a:blipFill>
            <a:blip r:embed="rId6"/>
            <a:stretch>
              <a:fillRect/>
            </a:stretch>
          </a:blipFill>
        </p:spPr>
      </p:sp>
      <p:sp>
        <p:nvSpPr>
          <p:cNvPr id="7" name="Freeform 7"/>
          <p:cNvSpPr/>
          <p:nvPr/>
        </p:nvSpPr>
        <p:spPr>
          <a:xfrm rot="-858797">
            <a:off x="-193415" y="5426685"/>
            <a:ext cx="4891940" cy="6095875"/>
          </a:xfrm>
          <a:custGeom>
            <a:avLst/>
            <a:gdLst/>
            <a:ahLst/>
            <a:cxnLst/>
            <a:rect l="l" t="t" r="r" b="b"/>
            <a:pathLst>
              <a:path w="4891940" h="6095875">
                <a:moveTo>
                  <a:pt x="0" y="0"/>
                </a:moveTo>
                <a:lnTo>
                  <a:pt x="4891940" y="0"/>
                </a:lnTo>
                <a:lnTo>
                  <a:pt x="4891940" y="6095875"/>
                </a:lnTo>
                <a:lnTo>
                  <a:pt x="0" y="6095875"/>
                </a:lnTo>
                <a:lnTo>
                  <a:pt x="0" y="0"/>
                </a:lnTo>
                <a:close/>
              </a:path>
            </a:pathLst>
          </a:custGeom>
          <a:blipFill>
            <a:blip r:embed="rId7"/>
            <a:stretch>
              <a:fillRect/>
            </a:stretch>
          </a:blipFill>
        </p:spPr>
      </p:sp>
      <p:sp>
        <p:nvSpPr>
          <p:cNvPr id="8" name="Freeform 8"/>
          <p:cNvSpPr/>
          <p:nvPr/>
        </p:nvSpPr>
        <p:spPr>
          <a:xfrm>
            <a:off x="6486515" y="-2384916"/>
            <a:ext cx="5580186" cy="4450198"/>
          </a:xfrm>
          <a:custGeom>
            <a:avLst/>
            <a:gdLst/>
            <a:ahLst/>
            <a:cxnLst/>
            <a:rect l="l" t="t" r="r" b="b"/>
            <a:pathLst>
              <a:path w="5580186" h="4450198">
                <a:moveTo>
                  <a:pt x="0" y="0"/>
                </a:moveTo>
                <a:lnTo>
                  <a:pt x="5580185" y="0"/>
                </a:lnTo>
                <a:lnTo>
                  <a:pt x="5580185" y="4450198"/>
                </a:lnTo>
                <a:lnTo>
                  <a:pt x="0" y="4450198"/>
                </a:lnTo>
                <a:lnTo>
                  <a:pt x="0" y="0"/>
                </a:lnTo>
                <a:close/>
              </a:path>
            </a:pathLst>
          </a:custGeom>
          <a:blipFill>
            <a:blip r:embed="rId8"/>
            <a:stretch>
              <a:fillRect/>
            </a:stretch>
          </a:blipFill>
        </p:spPr>
      </p:sp>
      <p:sp>
        <p:nvSpPr>
          <p:cNvPr id="9" name="Freeform 9"/>
          <p:cNvSpPr/>
          <p:nvPr/>
        </p:nvSpPr>
        <p:spPr>
          <a:xfrm>
            <a:off x="6771574" y="9010558"/>
            <a:ext cx="5245765" cy="4131040"/>
          </a:xfrm>
          <a:custGeom>
            <a:avLst/>
            <a:gdLst/>
            <a:ahLst/>
            <a:cxnLst/>
            <a:rect l="l" t="t" r="r" b="b"/>
            <a:pathLst>
              <a:path w="5245765" h="4131040">
                <a:moveTo>
                  <a:pt x="0" y="0"/>
                </a:moveTo>
                <a:lnTo>
                  <a:pt x="5245765" y="0"/>
                </a:lnTo>
                <a:lnTo>
                  <a:pt x="5245765" y="4131040"/>
                </a:lnTo>
                <a:lnTo>
                  <a:pt x="0" y="4131040"/>
                </a:lnTo>
                <a:lnTo>
                  <a:pt x="0" y="0"/>
                </a:lnTo>
                <a:close/>
              </a:path>
            </a:pathLst>
          </a:custGeom>
          <a:blipFill>
            <a:blip r:embed="rId9"/>
            <a:stretch>
              <a:fillRect/>
            </a:stretch>
          </a:blipFill>
        </p:spPr>
      </p:sp>
      <p:sp>
        <p:nvSpPr>
          <p:cNvPr id="10" name="TextBox 10"/>
          <p:cNvSpPr txBox="1"/>
          <p:nvPr/>
        </p:nvSpPr>
        <p:spPr>
          <a:xfrm>
            <a:off x="3129974" y="2286374"/>
            <a:ext cx="12028053" cy="4367631"/>
          </a:xfrm>
          <a:prstGeom prst="rect">
            <a:avLst/>
          </a:prstGeom>
        </p:spPr>
        <p:txBody>
          <a:bodyPr lIns="0" tIns="0" rIns="0" bIns="0" rtlCol="0" anchor="t">
            <a:spAutoFit/>
          </a:bodyPr>
          <a:lstStyle/>
          <a:p>
            <a:pPr marL="0" lvl="0" indent="0" algn="ctr">
              <a:lnSpc>
                <a:spcPts val="11223"/>
              </a:lnSpc>
            </a:pPr>
            <a:r>
              <a:rPr lang="en-US" sz="12199">
                <a:solidFill>
                  <a:srgbClr val="1A4370"/>
                </a:solidFill>
                <a:latin typeface="Tropika"/>
                <a:ea typeface="Tropika"/>
                <a:cs typeface="Tropika"/>
                <a:sym typeface="Tropika"/>
              </a:rPr>
              <a:t>BRINGING DATA STRUCTURES &amp; ALGORITHMS TO LIFE</a:t>
            </a:r>
          </a:p>
        </p:txBody>
      </p:sp>
      <p:sp>
        <p:nvSpPr>
          <p:cNvPr id="11" name="TextBox 11"/>
          <p:cNvSpPr txBox="1"/>
          <p:nvPr/>
        </p:nvSpPr>
        <p:spPr>
          <a:xfrm>
            <a:off x="4907435" y="7334344"/>
            <a:ext cx="8473130" cy="1162871"/>
          </a:xfrm>
          <a:prstGeom prst="rect">
            <a:avLst/>
          </a:prstGeom>
        </p:spPr>
        <p:txBody>
          <a:bodyPr lIns="0" tIns="0" rIns="0" bIns="0" rtlCol="0" anchor="t">
            <a:spAutoFit/>
          </a:bodyPr>
          <a:lstStyle/>
          <a:p>
            <a:pPr marL="0" lvl="0" indent="0" algn="ctr">
              <a:lnSpc>
                <a:spcPts val="4532"/>
              </a:lnSpc>
            </a:pPr>
            <a:r>
              <a:rPr lang="en-US" sz="4532">
                <a:solidFill>
                  <a:srgbClr val="1A4370"/>
                </a:solidFill>
                <a:latin typeface="Atkinson Hyperlegible"/>
                <a:ea typeface="Atkinson Hyperlegible"/>
                <a:cs typeface="Atkinson Hyperlegible"/>
                <a:sym typeface="Atkinson Hyperlegible"/>
              </a:rPr>
              <a:t>Interactive Website with Step-by-Step Visualizations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437685" y="1095249"/>
            <a:ext cx="1228171" cy="1621348"/>
          </a:xfrm>
          <a:custGeom>
            <a:avLst/>
            <a:gdLst/>
            <a:ahLst/>
            <a:cxnLst/>
            <a:rect l="l" t="t" r="r" b="b"/>
            <a:pathLst>
              <a:path w="1228171" h="1621348">
                <a:moveTo>
                  <a:pt x="0" y="0"/>
                </a:moveTo>
                <a:lnTo>
                  <a:pt x="1228171" y="0"/>
                </a:lnTo>
                <a:lnTo>
                  <a:pt x="1228171" y="1621348"/>
                </a:lnTo>
                <a:lnTo>
                  <a:pt x="0" y="1621348"/>
                </a:lnTo>
                <a:lnTo>
                  <a:pt x="0" y="0"/>
                </a:lnTo>
                <a:close/>
              </a:path>
            </a:pathLst>
          </a:custGeom>
          <a:blipFill>
            <a:blip r:embed="rId2"/>
            <a:stretch>
              <a:fillRect/>
            </a:stretch>
          </a:blipFill>
        </p:spPr>
      </p:sp>
      <p:sp>
        <p:nvSpPr>
          <p:cNvPr id="3" name="Freeform 3"/>
          <p:cNvSpPr/>
          <p:nvPr/>
        </p:nvSpPr>
        <p:spPr>
          <a:xfrm rot="1195304">
            <a:off x="-428289" y="2169489"/>
            <a:ext cx="4394562" cy="3790310"/>
          </a:xfrm>
          <a:custGeom>
            <a:avLst/>
            <a:gdLst/>
            <a:ahLst/>
            <a:cxnLst/>
            <a:rect l="l" t="t" r="r" b="b"/>
            <a:pathLst>
              <a:path w="4394562" h="3790310">
                <a:moveTo>
                  <a:pt x="0" y="0"/>
                </a:moveTo>
                <a:lnTo>
                  <a:pt x="4394562" y="0"/>
                </a:lnTo>
                <a:lnTo>
                  <a:pt x="4394562" y="3790310"/>
                </a:lnTo>
                <a:lnTo>
                  <a:pt x="0" y="3790310"/>
                </a:lnTo>
                <a:lnTo>
                  <a:pt x="0" y="0"/>
                </a:lnTo>
                <a:close/>
              </a:path>
            </a:pathLst>
          </a:custGeom>
          <a:blipFill>
            <a:blip r:embed="rId3"/>
            <a:stretch>
              <a:fillRect/>
            </a:stretch>
          </a:blipFill>
        </p:spPr>
      </p:sp>
      <p:sp>
        <p:nvSpPr>
          <p:cNvPr id="4" name="Freeform 4"/>
          <p:cNvSpPr/>
          <p:nvPr/>
        </p:nvSpPr>
        <p:spPr>
          <a:xfrm rot="-858797">
            <a:off x="-426645" y="6115071"/>
            <a:ext cx="4946109" cy="4907517"/>
          </a:xfrm>
          <a:custGeom>
            <a:avLst/>
            <a:gdLst/>
            <a:ahLst/>
            <a:cxnLst/>
            <a:rect l="l" t="t" r="r" b="b"/>
            <a:pathLst>
              <a:path w="4946109" h="4907517">
                <a:moveTo>
                  <a:pt x="0" y="0"/>
                </a:moveTo>
                <a:lnTo>
                  <a:pt x="4946109" y="0"/>
                </a:lnTo>
                <a:lnTo>
                  <a:pt x="4946109" y="4907517"/>
                </a:lnTo>
                <a:lnTo>
                  <a:pt x="0" y="4907517"/>
                </a:lnTo>
                <a:lnTo>
                  <a:pt x="0" y="0"/>
                </a:lnTo>
                <a:close/>
              </a:path>
            </a:pathLst>
          </a:custGeom>
          <a:blipFill>
            <a:blip r:embed="rId4"/>
            <a:stretch>
              <a:fillRect/>
            </a:stretch>
          </a:blipFill>
        </p:spPr>
      </p:sp>
      <p:sp>
        <p:nvSpPr>
          <p:cNvPr id="5" name="Freeform 5"/>
          <p:cNvSpPr/>
          <p:nvPr/>
        </p:nvSpPr>
        <p:spPr>
          <a:xfrm>
            <a:off x="5337469" y="9258300"/>
            <a:ext cx="3806531" cy="2749732"/>
          </a:xfrm>
          <a:custGeom>
            <a:avLst/>
            <a:gdLst/>
            <a:ahLst/>
            <a:cxnLst/>
            <a:rect l="l" t="t" r="r" b="b"/>
            <a:pathLst>
              <a:path w="3806531" h="2749732">
                <a:moveTo>
                  <a:pt x="0" y="0"/>
                </a:moveTo>
                <a:lnTo>
                  <a:pt x="3806531" y="0"/>
                </a:lnTo>
                <a:lnTo>
                  <a:pt x="3806531" y="2749732"/>
                </a:lnTo>
                <a:lnTo>
                  <a:pt x="0" y="2749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3010874" y="5120182"/>
            <a:ext cx="1162650" cy="1162650"/>
          </a:xfrm>
          <a:custGeom>
            <a:avLst/>
            <a:gdLst/>
            <a:ahLst/>
            <a:cxnLst/>
            <a:rect l="l" t="t" r="r" b="b"/>
            <a:pathLst>
              <a:path w="1162650" h="1162650">
                <a:moveTo>
                  <a:pt x="0" y="0"/>
                </a:moveTo>
                <a:lnTo>
                  <a:pt x="1162650" y="0"/>
                </a:lnTo>
                <a:lnTo>
                  <a:pt x="1162650" y="1162650"/>
                </a:lnTo>
                <a:lnTo>
                  <a:pt x="0" y="1162650"/>
                </a:lnTo>
                <a:lnTo>
                  <a:pt x="0" y="0"/>
                </a:lnTo>
                <a:close/>
              </a:path>
            </a:pathLst>
          </a:custGeom>
          <a:blipFill>
            <a:blip r:embed="rId6"/>
            <a:stretch>
              <a:fillRect/>
            </a:stretch>
          </a:blipFill>
        </p:spPr>
      </p:sp>
      <p:sp>
        <p:nvSpPr>
          <p:cNvPr id="7" name="Freeform 7"/>
          <p:cNvSpPr/>
          <p:nvPr/>
        </p:nvSpPr>
        <p:spPr>
          <a:xfrm>
            <a:off x="2473633" y="-1476633"/>
            <a:ext cx="3589170" cy="2592716"/>
          </a:xfrm>
          <a:custGeom>
            <a:avLst/>
            <a:gdLst/>
            <a:ahLst/>
            <a:cxnLst/>
            <a:rect l="l" t="t" r="r" b="b"/>
            <a:pathLst>
              <a:path w="3589170" h="2592716">
                <a:moveTo>
                  <a:pt x="0" y="0"/>
                </a:moveTo>
                <a:lnTo>
                  <a:pt x="3589169" y="0"/>
                </a:lnTo>
                <a:lnTo>
                  <a:pt x="3589169" y="2592716"/>
                </a:lnTo>
                <a:lnTo>
                  <a:pt x="0" y="25927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734508" y="1539779"/>
            <a:ext cx="10524792" cy="3025058"/>
          </a:xfrm>
          <a:prstGeom prst="rect">
            <a:avLst/>
          </a:prstGeom>
        </p:spPr>
        <p:txBody>
          <a:bodyPr lIns="0" tIns="0" rIns="0" bIns="0" rtlCol="0" anchor="t">
            <a:spAutoFit/>
          </a:bodyPr>
          <a:lstStyle/>
          <a:p>
            <a:pPr marL="0" lvl="0" indent="0" algn="l">
              <a:lnSpc>
                <a:spcPts val="7768"/>
              </a:lnSpc>
            </a:pPr>
            <a:r>
              <a:rPr lang="en-US" sz="8443">
                <a:solidFill>
                  <a:srgbClr val="1A4370"/>
                </a:solidFill>
                <a:latin typeface="Tropika"/>
                <a:ea typeface="Tropika"/>
                <a:cs typeface="Tropika"/>
                <a:sym typeface="Tropika"/>
              </a:rPr>
              <a:t>OUR SOLUTION: AN INTERACTIVE VISUAL WEBSITE</a:t>
            </a:r>
          </a:p>
        </p:txBody>
      </p:sp>
      <p:sp>
        <p:nvSpPr>
          <p:cNvPr id="9" name="TextBox 9"/>
          <p:cNvSpPr txBox="1"/>
          <p:nvPr/>
        </p:nvSpPr>
        <p:spPr>
          <a:xfrm>
            <a:off x="6734508" y="4807384"/>
            <a:ext cx="10524792" cy="1934465"/>
          </a:xfrm>
          <a:prstGeom prst="rect">
            <a:avLst/>
          </a:prstGeom>
        </p:spPr>
        <p:txBody>
          <a:bodyPr lIns="0" tIns="0" rIns="0" bIns="0" rtlCol="0" anchor="t">
            <a:spAutoFit/>
          </a:bodyPr>
          <a:lstStyle/>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Like a wise storyteller from the Panchatantra tales, our website guides students through Data Structures &amp; Algorithms concepts with engaging, step-by-step animations. Each concept unfolds like a fable—clear, memorable, and meaningful.</a:t>
            </a:r>
          </a:p>
        </p:txBody>
      </p:sp>
      <p:sp>
        <p:nvSpPr>
          <p:cNvPr id="10" name="TextBox 10"/>
          <p:cNvSpPr txBox="1"/>
          <p:nvPr/>
        </p:nvSpPr>
        <p:spPr>
          <a:xfrm>
            <a:off x="6734508" y="7031776"/>
            <a:ext cx="10524792" cy="1934465"/>
          </a:xfrm>
          <a:prstGeom prst="rect">
            <a:avLst/>
          </a:prstGeom>
        </p:spPr>
        <p:txBody>
          <a:bodyPr lIns="0" tIns="0" rIns="0" bIns="0" rtlCol="0" anchor="t">
            <a:spAutoFit/>
          </a:bodyPr>
          <a:lstStyle/>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Key Features:</a:t>
            </a:r>
          </a:p>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 Step-by-step visual animations for each concept</a:t>
            </a:r>
          </a:p>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 User controls to pause, play, and navigate at your own pace</a:t>
            </a:r>
          </a:p>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 Interactive visual aids that bring abstract ideas to life</a:t>
            </a:r>
          </a:p>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 Storytelling approach that makes learning enjoyable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479789" y="1152043"/>
            <a:ext cx="1298185" cy="1713776"/>
          </a:xfrm>
          <a:custGeom>
            <a:avLst/>
            <a:gdLst/>
            <a:ahLst/>
            <a:cxnLst/>
            <a:rect l="l" t="t" r="r" b="b"/>
            <a:pathLst>
              <a:path w="1298185" h="1713776">
                <a:moveTo>
                  <a:pt x="0" y="0"/>
                </a:moveTo>
                <a:lnTo>
                  <a:pt x="1298185" y="0"/>
                </a:lnTo>
                <a:lnTo>
                  <a:pt x="1298185" y="1713776"/>
                </a:lnTo>
                <a:lnTo>
                  <a:pt x="0" y="1713776"/>
                </a:lnTo>
                <a:lnTo>
                  <a:pt x="0" y="0"/>
                </a:lnTo>
                <a:close/>
              </a:path>
            </a:pathLst>
          </a:custGeom>
          <a:blipFill>
            <a:blip r:embed="rId2"/>
            <a:stretch>
              <a:fillRect/>
            </a:stretch>
          </a:blipFill>
        </p:spPr>
      </p:sp>
      <p:sp>
        <p:nvSpPr>
          <p:cNvPr id="3" name="Freeform 3"/>
          <p:cNvSpPr/>
          <p:nvPr/>
        </p:nvSpPr>
        <p:spPr>
          <a:xfrm rot="1195304">
            <a:off x="32310" y="564311"/>
            <a:ext cx="3063023" cy="6364723"/>
          </a:xfrm>
          <a:custGeom>
            <a:avLst/>
            <a:gdLst/>
            <a:ahLst/>
            <a:cxnLst/>
            <a:rect l="l" t="t" r="r" b="b"/>
            <a:pathLst>
              <a:path w="3063023" h="6364723">
                <a:moveTo>
                  <a:pt x="0" y="0"/>
                </a:moveTo>
                <a:lnTo>
                  <a:pt x="3063023" y="0"/>
                </a:lnTo>
                <a:lnTo>
                  <a:pt x="3063023" y="6364723"/>
                </a:lnTo>
                <a:lnTo>
                  <a:pt x="0" y="6364723"/>
                </a:lnTo>
                <a:lnTo>
                  <a:pt x="0" y="0"/>
                </a:lnTo>
                <a:close/>
              </a:path>
            </a:pathLst>
          </a:custGeom>
          <a:blipFill>
            <a:blip r:embed="rId3"/>
            <a:stretch>
              <a:fillRect/>
            </a:stretch>
          </a:blipFill>
        </p:spPr>
      </p:sp>
      <p:sp>
        <p:nvSpPr>
          <p:cNvPr id="4" name="Freeform 4"/>
          <p:cNvSpPr/>
          <p:nvPr/>
        </p:nvSpPr>
        <p:spPr>
          <a:xfrm rot="-858797">
            <a:off x="-682528" y="5897792"/>
            <a:ext cx="5362470" cy="5464937"/>
          </a:xfrm>
          <a:custGeom>
            <a:avLst/>
            <a:gdLst/>
            <a:ahLst/>
            <a:cxnLst/>
            <a:rect l="l" t="t" r="r" b="b"/>
            <a:pathLst>
              <a:path w="5362470" h="5464937">
                <a:moveTo>
                  <a:pt x="0" y="0"/>
                </a:moveTo>
                <a:lnTo>
                  <a:pt x="5362470" y="0"/>
                </a:lnTo>
                <a:lnTo>
                  <a:pt x="5362470" y="5464938"/>
                </a:lnTo>
                <a:lnTo>
                  <a:pt x="0" y="5464938"/>
                </a:lnTo>
                <a:lnTo>
                  <a:pt x="0" y="0"/>
                </a:lnTo>
                <a:close/>
              </a:path>
            </a:pathLst>
          </a:custGeom>
          <a:blipFill>
            <a:blip r:embed="rId4"/>
            <a:stretch>
              <a:fillRect/>
            </a:stretch>
          </a:blipFill>
        </p:spPr>
      </p:sp>
      <p:sp>
        <p:nvSpPr>
          <p:cNvPr id="5" name="Freeform 5"/>
          <p:cNvSpPr/>
          <p:nvPr/>
        </p:nvSpPr>
        <p:spPr>
          <a:xfrm>
            <a:off x="5337469" y="9258300"/>
            <a:ext cx="3806531" cy="2749732"/>
          </a:xfrm>
          <a:custGeom>
            <a:avLst/>
            <a:gdLst/>
            <a:ahLst/>
            <a:cxnLst/>
            <a:rect l="l" t="t" r="r" b="b"/>
            <a:pathLst>
              <a:path w="3806531" h="2749732">
                <a:moveTo>
                  <a:pt x="0" y="0"/>
                </a:moveTo>
                <a:lnTo>
                  <a:pt x="3806531" y="0"/>
                </a:lnTo>
                <a:lnTo>
                  <a:pt x="3806531" y="2749732"/>
                </a:lnTo>
                <a:lnTo>
                  <a:pt x="0" y="2749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2996340" y="5100125"/>
            <a:ext cx="1189906" cy="1203445"/>
          </a:xfrm>
          <a:custGeom>
            <a:avLst/>
            <a:gdLst/>
            <a:ahLst/>
            <a:cxnLst/>
            <a:rect l="l" t="t" r="r" b="b"/>
            <a:pathLst>
              <a:path w="1189906" h="1203445">
                <a:moveTo>
                  <a:pt x="0" y="0"/>
                </a:moveTo>
                <a:lnTo>
                  <a:pt x="1189906" y="0"/>
                </a:lnTo>
                <a:lnTo>
                  <a:pt x="1189906" y="1203445"/>
                </a:lnTo>
                <a:lnTo>
                  <a:pt x="0" y="1203445"/>
                </a:lnTo>
                <a:lnTo>
                  <a:pt x="0" y="0"/>
                </a:lnTo>
                <a:close/>
              </a:path>
            </a:pathLst>
          </a:custGeom>
          <a:blipFill>
            <a:blip r:embed="rId6"/>
            <a:stretch>
              <a:fillRect/>
            </a:stretch>
          </a:blipFill>
        </p:spPr>
      </p:sp>
      <p:sp>
        <p:nvSpPr>
          <p:cNvPr id="7" name="Freeform 7"/>
          <p:cNvSpPr/>
          <p:nvPr/>
        </p:nvSpPr>
        <p:spPr>
          <a:xfrm>
            <a:off x="2473633" y="-1476633"/>
            <a:ext cx="3589170" cy="2592716"/>
          </a:xfrm>
          <a:custGeom>
            <a:avLst/>
            <a:gdLst/>
            <a:ahLst/>
            <a:cxnLst/>
            <a:rect l="l" t="t" r="r" b="b"/>
            <a:pathLst>
              <a:path w="3589170" h="2592716">
                <a:moveTo>
                  <a:pt x="0" y="0"/>
                </a:moveTo>
                <a:lnTo>
                  <a:pt x="3589169" y="0"/>
                </a:lnTo>
                <a:lnTo>
                  <a:pt x="3589169" y="2592716"/>
                </a:lnTo>
                <a:lnTo>
                  <a:pt x="0" y="25927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734508" y="2151175"/>
            <a:ext cx="10524792" cy="1024509"/>
          </a:xfrm>
          <a:prstGeom prst="rect">
            <a:avLst/>
          </a:prstGeom>
        </p:spPr>
        <p:txBody>
          <a:bodyPr lIns="0" tIns="0" rIns="0" bIns="0" rtlCol="0" anchor="t">
            <a:spAutoFit/>
          </a:bodyPr>
          <a:lstStyle/>
          <a:p>
            <a:pPr marL="0" lvl="0" indent="0" algn="l">
              <a:lnSpc>
                <a:spcPts val="7532"/>
              </a:lnSpc>
            </a:pPr>
            <a:r>
              <a:rPr lang="en-US" sz="8187">
                <a:solidFill>
                  <a:srgbClr val="1A4370"/>
                </a:solidFill>
                <a:latin typeface="Tropika"/>
                <a:ea typeface="Tropika"/>
                <a:cs typeface="Tropika"/>
                <a:sym typeface="Tropika"/>
              </a:rPr>
              <a:t>BINARY SEARCH EXPLAINED</a:t>
            </a:r>
          </a:p>
        </p:txBody>
      </p:sp>
      <p:sp>
        <p:nvSpPr>
          <p:cNvPr id="9" name="TextBox 9"/>
          <p:cNvSpPr txBox="1"/>
          <p:nvPr/>
        </p:nvSpPr>
        <p:spPr>
          <a:xfrm>
            <a:off x="6734508" y="4515380"/>
            <a:ext cx="10524792" cy="3839465"/>
          </a:xfrm>
          <a:prstGeom prst="rect">
            <a:avLst/>
          </a:prstGeom>
        </p:spPr>
        <p:txBody>
          <a:bodyPr lIns="0" tIns="0" rIns="0" bIns="0" rtlCol="0" anchor="t">
            <a:spAutoFit/>
          </a:bodyPr>
          <a:lstStyle/>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Binary Search is a clever algorithm that finds elements in a sorted array by repeatedly dividing the search space in half. Like a wise fox hunting for treasure, it starts in the middle and asks: "Is my target higher or lower?" Each comparison eliminates half the remaining possibilities, making it remarkably efficient with O(log n) time complexity. Instead of checking every element one by one, Binary Search narrows down to the answer in just a few strategic steps—turning a potentially long search into a swift, intelligent journey to the 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433294" y="1192595"/>
            <a:ext cx="1248981" cy="1518929"/>
          </a:xfrm>
          <a:custGeom>
            <a:avLst/>
            <a:gdLst/>
            <a:ahLst/>
            <a:cxnLst/>
            <a:rect l="l" t="t" r="r" b="b"/>
            <a:pathLst>
              <a:path w="1248981" h="1518929">
                <a:moveTo>
                  <a:pt x="0" y="0"/>
                </a:moveTo>
                <a:lnTo>
                  <a:pt x="1248982" y="0"/>
                </a:lnTo>
                <a:lnTo>
                  <a:pt x="1248982" y="1518928"/>
                </a:lnTo>
                <a:lnTo>
                  <a:pt x="0" y="1518928"/>
                </a:lnTo>
                <a:lnTo>
                  <a:pt x="0" y="0"/>
                </a:lnTo>
                <a:close/>
              </a:path>
            </a:pathLst>
          </a:custGeom>
          <a:blipFill>
            <a:blip r:embed="rId2"/>
            <a:stretch>
              <a:fillRect/>
            </a:stretch>
          </a:blipFill>
        </p:spPr>
      </p:sp>
      <p:sp>
        <p:nvSpPr>
          <p:cNvPr id="3" name="Freeform 3"/>
          <p:cNvSpPr/>
          <p:nvPr/>
        </p:nvSpPr>
        <p:spPr>
          <a:xfrm rot="1195304">
            <a:off x="343693" y="1103991"/>
            <a:ext cx="2777371" cy="5925058"/>
          </a:xfrm>
          <a:custGeom>
            <a:avLst/>
            <a:gdLst/>
            <a:ahLst/>
            <a:cxnLst/>
            <a:rect l="l" t="t" r="r" b="b"/>
            <a:pathLst>
              <a:path w="2777371" h="5925058">
                <a:moveTo>
                  <a:pt x="0" y="0"/>
                </a:moveTo>
                <a:lnTo>
                  <a:pt x="2777371" y="0"/>
                </a:lnTo>
                <a:lnTo>
                  <a:pt x="2777371" y="5925058"/>
                </a:lnTo>
                <a:lnTo>
                  <a:pt x="0" y="5925058"/>
                </a:lnTo>
                <a:lnTo>
                  <a:pt x="0" y="0"/>
                </a:lnTo>
                <a:close/>
              </a:path>
            </a:pathLst>
          </a:custGeom>
          <a:blipFill>
            <a:blip r:embed="rId3"/>
            <a:stretch>
              <a:fillRect/>
            </a:stretch>
          </a:blipFill>
        </p:spPr>
      </p:sp>
      <p:sp>
        <p:nvSpPr>
          <p:cNvPr id="4" name="Freeform 4"/>
          <p:cNvSpPr/>
          <p:nvPr/>
        </p:nvSpPr>
        <p:spPr>
          <a:xfrm rot="-858797">
            <a:off x="-571792" y="6692024"/>
            <a:ext cx="5252072" cy="4687474"/>
          </a:xfrm>
          <a:custGeom>
            <a:avLst/>
            <a:gdLst/>
            <a:ahLst/>
            <a:cxnLst/>
            <a:rect l="l" t="t" r="r" b="b"/>
            <a:pathLst>
              <a:path w="5252072" h="4687474">
                <a:moveTo>
                  <a:pt x="0" y="0"/>
                </a:moveTo>
                <a:lnTo>
                  <a:pt x="5252072" y="0"/>
                </a:lnTo>
                <a:lnTo>
                  <a:pt x="5252072" y="4687474"/>
                </a:lnTo>
                <a:lnTo>
                  <a:pt x="0" y="4687474"/>
                </a:lnTo>
                <a:lnTo>
                  <a:pt x="0" y="0"/>
                </a:lnTo>
                <a:close/>
              </a:path>
            </a:pathLst>
          </a:custGeom>
          <a:blipFill>
            <a:blip r:embed="rId4"/>
            <a:stretch>
              <a:fillRect/>
            </a:stretch>
          </a:blipFill>
        </p:spPr>
      </p:sp>
      <p:sp>
        <p:nvSpPr>
          <p:cNvPr id="5" name="Freeform 5"/>
          <p:cNvSpPr/>
          <p:nvPr/>
        </p:nvSpPr>
        <p:spPr>
          <a:xfrm>
            <a:off x="5337469" y="9258300"/>
            <a:ext cx="3806531" cy="2749732"/>
          </a:xfrm>
          <a:custGeom>
            <a:avLst/>
            <a:gdLst/>
            <a:ahLst/>
            <a:cxnLst/>
            <a:rect l="l" t="t" r="r" b="b"/>
            <a:pathLst>
              <a:path w="3806531" h="2749732">
                <a:moveTo>
                  <a:pt x="0" y="0"/>
                </a:moveTo>
                <a:lnTo>
                  <a:pt x="3806531" y="0"/>
                </a:lnTo>
                <a:lnTo>
                  <a:pt x="3806531" y="2749732"/>
                </a:lnTo>
                <a:lnTo>
                  <a:pt x="0" y="2749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2982989" y="5108583"/>
            <a:ext cx="1214757" cy="1195017"/>
          </a:xfrm>
          <a:custGeom>
            <a:avLst/>
            <a:gdLst/>
            <a:ahLst/>
            <a:cxnLst/>
            <a:rect l="l" t="t" r="r" b="b"/>
            <a:pathLst>
              <a:path w="1214757" h="1195017">
                <a:moveTo>
                  <a:pt x="0" y="0"/>
                </a:moveTo>
                <a:lnTo>
                  <a:pt x="1214757" y="0"/>
                </a:lnTo>
                <a:lnTo>
                  <a:pt x="1214757" y="1195017"/>
                </a:lnTo>
                <a:lnTo>
                  <a:pt x="0" y="1195017"/>
                </a:lnTo>
                <a:lnTo>
                  <a:pt x="0" y="0"/>
                </a:lnTo>
                <a:close/>
              </a:path>
            </a:pathLst>
          </a:custGeom>
          <a:blipFill>
            <a:blip r:embed="rId6"/>
            <a:stretch>
              <a:fillRect/>
            </a:stretch>
          </a:blipFill>
        </p:spPr>
      </p:sp>
      <p:sp>
        <p:nvSpPr>
          <p:cNvPr id="7" name="Freeform 7"/>
          <p:cNvSpPr/>
          <p:nvPr/>
        </p:nvSpPr>
        <p:spPr>
          <a:xfrm>
            <a:off x="2473633" y="-1476633"/>
            <a:ext cx="3589170" cy="2592716"/>
          </a:xfrm>
          <a:custGeom>
            <a:avLst/>
            <a:gdLst/>
            <a:ahLst/>
            <a:cxnLst/>
            <a:rect l="l" t="t" r="r" b="b"/>
            <a:pathLst>
              <a:path w="3589170" h="2592716">
                <a:moveTo>
                  <a:pt x="0" y="0"/>
                </a:moveTo>
                <a:lnTo>
                  <a:pt x="3589169" y="0"/>
                </a:lnTo>
                <a:lnTo>
                  <a:pt x="3589169" y="2592716"/>
                </a:lnTo>
                <a:lnTo>
                  <a:pt x="0" y="25927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734508" y="2189275"/>
            <a:ext cx="10524792" cy="1200037"/>
          </a:xfrm>
          <a:prstGeom prst="rect">
            <a:avLst/>
          </a:prstGeom>
        </p:spPr>
        <p:txBody>
          <a:bodyPr lIns="0" tIns="0" rIns="0" bIns="0" rtlCol="0" anchor="t">
            <a:spAutoFit/>
          </a:bodyPr>
          <a:lstStyle/>
          <a:p>
            <a:pPr marL="0" lvl="0" indent="0" algn="l">
              <a:lnSpc>
                <a:spcPts val="8828"/>
              </a:lnSpc>
            </a:pPr>
            <a:r>
              <a:rPr lang="en-US" sz="9596">
                <a:solidFill>
                  <a:srgbClr val="1A4370"/>
                </a:solidFill>
                <a:latin typeface="Tropika"/>
                <a:ea typeface="Tropika"/>
                <a:cs typeface="Tropika"/>
                <a:sym typeface="Tropika"/>
              </a:rPr>
              <a:t>UNDERSTANDING STACK</a:t>
            </a:r>
          </a:p>
        </p:txBody>
      </p:sp>
      <p:sp>
        <p:nvSpPr>
          <p:cNvPr id="9" name="TextBox 9"/>
          <p:cNvSpPr txBox="1"/>
          <p:nvPr/>
        </p:nvSpPr>
        <p:spPr>
          <a:xfrm>
            <a:off x="6734508" y="4515380"/>
            <a:ext cx="10524792" cy="2696520"/>
          </a:xfrm>
          <a:prstGeom prst="rect">
            <a:avLst/>
          </a:prstGeom>
        </p:spPr>
        <p:txBody>
          <a:bodyPr lIns="0" tIns="0" rIns="0" bIns="0" rtlCol="0" anchor="t">
            <a:spAutoFit/>
          </a:bodyPr>
          <a:lstStyle/>
          <a:p>
            <a:pPr marL="0" lvl="0" indent="0" algn="l">
              <a:lnSpc>
                <a:spcPts val="3037"/>
              </a:lnSpc>
            </a:pPr>
            <a:r>
              <a:rPr lang="en-US" sz="3037">
                <a:solidFill>
                  <a:srgbClr val="1A4370"/>
                </a:solidFill>
                <a:latin typeface="Atkinson Hyperlegible"/>
                <a:ea typeface="Atkinson Hyperlegible"/>
                <a:cs typeface="Atkinson Hyperlegible"/>
                <a:sym typeface="Atkinson Hyperlegible"/>
              </a:rPr>
              <a:t>A Stack follows the Last-In-First-Out (LIFO) principle—like stacking plates, the last item added is the first to be removed. Key operations include Push (add to top) and Pop (remove from top). Our interactive visualization demonstrates these operations step-by-step, showing how elements enter and exit the stack in real-time. Watch as data flows through the structure, making abstract concepts tangible and memorable.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372296" y="1081214"/>
            <a:ext cx="1348597" cy="1667508"/>
          </a:xfrm>
          <a:custGeom>
            <a:avLst/>
            <a:gdLst/>
            <a:ahLst/>
            <a:cxnLst/>
            <a:rect l="l" t="t" r="r" b="b"/>
            <a:pathLst>
              <a:path w="1348597" h="1667508">
                <a:moveTo>
                  <a:pt x="0" y="0"/>
                </a:moveTo>
                <a:lnTo>
                  <a:pt x="1348598" y="0"/>
                </a:lnTo>
                <a:lnTo>
                  <a:pt x="1348598" y="1667508"/>
                </a:lnTo>
                <a:lnTo>
                  <a:pt x="0" y="1667508"/>
                </a:lnTo>
                <a:lnTo>
                  <a:pt x="0" y="0"/>
                </a:lnTo>
                <a:close/>
              </a:path>
            </a:pathLst>
          </a:custGeom>
          <a:blipFill>
            <a:blip r:embed="rId2"/>
            <a:stretch>
              <a:fillRect/>
            </a:stretch>
          </a:blipFill>
        </p:spPr>
      </p:sp>
      <p:sp>
        <p:nvSpPr>
          <p:cNvPr id="3" name="Freeform 3"/>
          <p:cNvSpPr/>
          <p:nvPr/>
        </p:nvSpPr>
        <p:spPr>
          <a:xfrm rot="1195304">
            <a:off x="109738" y="1541369"/>
            <a:ext cx="3536200" cy="5026552"/>
          </a:xfrm>
          <a:custGeom>
            <a:avLst/>
            <a:gdLst/>
            <a:ahLst/>
            <a:cxnLst/>
            <a:rect l="l" t="t" r="r" b="b"/>
            <a:pathLst>
              <a:path w="3536200" h="5026552">
                <a:moveTo>
                  <a:pt x="0" y="0"/>
                </a:moveTo>
                <a:lnTo>
                  <a:pt x="3536200" y="0"/>
                </a:lnTo>
                <a:lnTo>
                  <a:pt x="3536200" y="5026553"/>
                </a:lnTo>
                <a:lnTo>
                  <a:pt x="0" y="5026553"/>
                </a:lnTo>
                <a:lnTo>
                  <a:pt x="0" y="0"/>
                </a:lnTo>
                <a:close/>
              </a:path>
            </a:pathLst>
          </a:custGeom>
          <a:blipFill>
            <a:blip r:embed="rId3"/>
            <a:stretch>
              <a:fillRect/>
            </a:stretch>
          </a:blipFill>
        </p:spPr>
      </p:sp>
      <p:sp>
        <p:nvSpPr>
          <p:cNvPr id="4" name="Freeform 4"/>
          <p:cNvSpPr/>
          <p:nvPr/>
        </p:nvSpPr>
        <p:spPr>
          <a:xfrm rot="-858797">
            <a:off x="-2704017" y="7504771"/>
            <a:ext cx="9657828" cy="2523108"/>
          </a:xfrm>
          <a:custGeom>
            <a:avLst/>
            <a:gdLst/>
            <a:ahLst/>
            <a:cxnLst/>
            <a:rect l="l" t="t" r="r" b="b"/>
            <a:pathLst>
              <a:path w="9657828" h="2523108">
                <a:moveTo>
                  <a:pt x="0" y="0"/>
                </a:moveTo>
                <a:lnTo>
                  <a:pt x="9657828" y="0"/>
                </a:lnTo>
                <a:lnTo>
                  <a:pt x="9657828" y="2523108"/>
                </a:lnTo>
                <a:lnTo>
                  <a:pt x="0" y="2523108"/>
                </a:lnTo>
                <a:lnTo>
                  <a:pt x="0" y="0"/>
                </a:lnTo>
                <a:close/>
              </a:path>
            </a:pathLst>
          </a:custGeom>
          <a:blipFill>
            <a:blip r:embed="rId4"/>
            <a:stretch>
              <a:fillRect/>
            </a:stretch>
          </a:blipFill>
        </p:spPr>
      </p:sp>
      <p:sp>
        <p:nvSpPr>
          <p:cNvPr id="5" name="Freeform 5"/>
          <p:cNvSpPr/>
          <p:nvPr/>
        </p:nvSpPr>
        <p:spPr>
          <a:xfrm>
            <a:off x="5337469" y="9258300"/>
            <a:ext cx="3806531" cy="2749732"/>
          </a:xfrm>
          <a:custGeom>
            <a:avLst/>
            <a:gdLst/>
            <a:ahLst/>
            <a:cxnLst/>
            <a:rect l="l" t="t" r="r" b="b"/>
            <a:pathLst>
              <a:path w="3806531" h="2749732">
                <a:moveTo>
                  <a:pt x="0" y="0"/>
                </a:moveTo>
                <a:lnTo>
                  <a:pt x="3806531" y="0"/>
                </a:lnTo>
                <a:lnTo>
                  <a:pt x="3806531" y="2749732"/>
                </a:lnTo>
                <a:lnTo>
                  <a:pt x="0" y="2749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2858667" y="4892856"/>
            <a:ext cx="1428370" cy="1542100"/>
          </a:xfrm>
          <a:custGeom>
            <a:avLst/>
            <a:gdLst/>
            <a:ahLst/>
            <a:cxnLst/>
            <a:rect l="l" t="t" r="r" b="b"/>
            <a:pathLst>
              <a:path w="1428370" h="1542100">
                <a:moveTo>
                  <a:pt x="0" y="0"/>
                </a:moveTo>
                <a:lnTo>
                  <a:pt x="1428369" y="0"/>
                </a:lnTo>
                <a:lnTo>
                  <a:pt x="1428369" y="1542100"/>
                </a:lnTo>
                <a:lnTo>
                  <a:pt x="0" y="1542100"/>
                </a:lnTo>
                <a:lnTo>
                  <a:pt x="0" y="0"/>
                </a:lnTo>
                <a:close/>
              </a:path>
            </a:pathLst>
          </a:custGeom>
          <a:blipFill>
            <a:blip r:embed="rId6"/>
            <a:stretch>
              <a:fillRect/>
            </a:stretch>
          </a:blipFill>
        </p:spPr>
      </p:sp>
      <p:sp>
        <p:nvSpPr>
          <p:cNvPr id="7" name="Freeform 7"/>
          <p:cNvSpPr/>
          <p:nvPr/>
        </p:nvSpPr>
        <p:spPr>
          <a:xfrm>
            <a:off x="2216949" y="-1525311"/>
            <a:ext cx="4136864" cy="2358012"/>
          </a:xfrm>
          <a:custGeom>
            <a:avLst/>
            <a:gdLst/>
            <a:ahLst/>
            <a:cxnLst/>
            <a:rect l="l" t="t" r="r" b="b"/>
            <a:pathLst>
              <a:path w="4136864" h="2358012">
                <a:moveTo>
                  <a:pt x="0" y="0"/>
                </a:moveTo>
                <a:lnTo>
                  <a:pt x="4136864" y="0"/>
                </a:lnTo>
                <a:lnTo>
                  <a:pt x="4136864" y="2358013"/>
                </a:lnTo>
                <a:lnTo>
                  <a:pt x="0" y="2358013"/>
                </a:lnTo>
                <a:lnTo>
                  <a:pt x="0" y="0"/>
                </a:lnTo>
                <a:close/>
              </a:path>
            </a:pathLst>
          </a:custGeom>
          <a:blipFill>
            <a:blip r:embed="rId7"/>
            <a:stretch>
              <a:fillRect/>
            </a:stretch>
          </a:blipFill>
        </p:spPr>
      </p:sp>
      <p:sp>
        <p:nvSpPr>
          <p:cNvPr id="8" name="TextBox 8"/>
          <p:cNvSpPr txBox="1"/>
          <p:nvPr/>
        </p:nvSpPr>
        <p:spPr>
          <a:xfrm>
            <a:off x="6734508" y="2151175"/>
            <a:ext cx="10524792" cy="1024509"/>
          </a:xfrm>
          <a:prstGeom prst="rect">
            <a:avLst/>
          </a:prstGeom>
        </p:spPr>
        <p:txBody>
          <a:bodyPr lIns="0" tIns="0" rIns="0" bIns="0" rtlCol="0" anchor="t">
            <a:spAutoFit/>
          </a:bodyPr>
          <a:lstStyle/>
          <a:p>
            <a:pPr marL="0" lvl="0" indent="0" algn="l">
              <a:lnSpc>
                <a:spcPts val="7532"/>
              </a:lnSpc>
            </a:pPr>
            <a:r>
              <a:rPr lang="en-US" sz="8187">
                <a:solidFill>
                  <a:srgbClr val="1A4370"/>
                </a:solidFill>
                <a:latin typeface="Tropika"/>
                <a:ea typeface="Tropika"/>
                <a:cs typeface="Tropika"/>
                <a:sym typeface="Tropika"/>
              </a:rPr>
              <a:t>LINKED LIST VISUALIZATION</a:t>
            </a:r>
          </a:p>
        </p:txBody>
      </p:sp>
      <p:sp>
        <p:nvSpPr>
          <p:cNvPr id="9" name="TextBox 9"/>
          <p:cNvSpPr txBox="1"/>
          <p:nvPr/>
        </p:nvSpPr>
        <p:spPr>
          <a:xfrm>
            <a:off x="6734508" y="4515380"/>
            <a:ext cx="10524792" cy="3839465"/>
          </a:xfrm>
          <a:prstGeom prst="rect">
            <a:avLst/>
          </a:prstGeom>
        </p:spPr>
        <p:txBody>
          <a:bodyPr lIns="0" tIns="0" rIns="0" bIns="0" rtlCol="0" anchor="t">
            <a:spAutoFit/>
          </a:bodyPr>
          <a:lstStyle/>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A Linked List is a linear data structure where elements called nodes are connected in sequence. Each node contains data and a pointer to the next node, forming a chain. Unlike arrays, linked lists allow efficient insertion and removal of elements at any position without shifting other elements. Our interactive animation demonstrates how nodes link together, showing insertion at the head, tail, or middle, and how removal reconnects the chain seamlessly. Watch as each node finds its place in the sequence, guided step-by-step through the process.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321703" y="1064152"/>
            <a:ext cx="1444916" cy="1754071"/>
          </a:xfrm>
          <a:custGeom>
            <a:avLst/>
            <a:gdLst/>
            <a:ahLst/>
            <a:cxnLst/>
            <a:rect l="l" t="t" r="r" b="b"/>
            <a:pathLst>
              <a:path w="1444916" h="1754071">
                <a:moveTo>
                  <a:pt x="0" y="0"/>
                </a:moveTo>
                <a:lnTo>
                  <a:pt x="1444915" y="0"/>
                </a:lnTo>
                <a:lnTo>
                  <a:pt x="1444915" y="1754071"/>
                </a:lnTo>
                <a:lnTo>
                  <a:pt x="0" y="1754071"/>
                </a:lnTo>
                <a:lnTo>
                  <a:pt x="0" y="0"/>
                </a:lnTo>
                <a:close/>
              </a:path>
            </a:pathLst>
          </a:custGeom>
          <a:blipFill>
            <a:blip r:embed="rId2"/>
            <a:stretch>
              <a:fillRect/>
            </a:stretch>
          </a:blipFill>
        </p:spPr>
      </p:sp>
      <p:sp>
        <p:nvSpPr>
          <p:cNvPr id="3" name="Freeform 3"/>
          <p:cNvSpPr/>
          <p:nvPr/>
        </p:nvSpPr>
        <p:spPr>
          <a:xfrm rot="1195304">
            <a:off x="21823" y="1919648"/>
            <a:ext cx="3174793" cy="5079669"/>
          </a:xfrm>
          <a:custGeom>
            <a:avLst/>
            <a:gdLst/>
            <a:ahLst/>
            <a:cxnLst/>
            <a:rect l="l" t="t" r="r" b="b"/>
            <a:pathLst>
              <a:path w="3174793" h="5079669">
                <a:moveTo>
                  <a:pt x="0" y="0"/>
                </a:moveTo>
                <a:lnTo>
                  <a:pt x="3174793" y="0"/>
                </a:lnTo>
                <a:lnTo>
                  <a:pt x="3174793" y="5079669"/>
                </a:lnTo>
                <a:lnTo>
                  <a:pt x="0" y="5079669"/>
                </a:lnTo>
                <a:lnTo>
                  <a:pt x="0" y="0"/>
                </a:lnTo>
                <a:close/>
              </a:path>
            </a:pathLst>
          </a:custGeom>
          <a:blipFill>
            <a:blip r:embed="rId3"/>
            <a:stretch>
              <a:fillRect/>
            </a:stretch>
          </a:blipFill>
        </p:spPr>
      </p:sp>
      <p:sp>
        <p:nvSpPr>
          <p:cNvPr id="4" name="Freeform 4"/>
          <p:cNvSpPr/>
          <p:nvPr/>
        </p:nvSpPr>
        <p:spPr>
          <a:xfrm rot="-858797">
            <a:off x="-648538" y="6424471"/>
            <a:ext cx="5498724" cy="5471230"/>
          </a:xfrm>
          <a:custGeom>
            <a:avLst/>
            <a:gdLst/>
            <a:ahLst/>
            <a:cxnLst/>
            <a:rect l="l" t="t" r="r" b="b"/>
            <a:pathLst>
              <a:path w="5498724" h="5471230">
                <a:moveTo>
                  <a:pt x="0" y="0"/>
                </a:moveTo>
                <a:lnTo>
                  <a:pt x="5498724" y="0"/>
                </a:lnTo>
                <a:lnTo>
                  <a:pt x="5498724" y="5471231"/>
                </a:lnTo>
                <a:lnTo>
                  <a:pt x="0" y="5471231"/>
                </a:lnTo>
                <a:lnTo>
                  <a:pt x="0" y="0"/>
                </a:lnTo>
                <a:close/>
              </a:path>
            </a:pathLst>
          </a:custGeom>
          <a:blipFill>
            <a:blip r:embed="rId4"/>
            <a:stretch>
              <a:fillRect/>
            </a:stretch>
          </a:blipFill>
        </p:spPr>
      </p:sp>
      <p:sp>
        <p:nvSpPr>
          <p:cNvPr id="5" name="Freeform 5"/>
          <p:cNvSpPr/>
          <p:nvPr/>
        </p:nvSpPr>
        <p:spPr>
          <a:xfrm>
            <a:off x="5337469" y="9258300"/>
            <a:ext cx="3806531" cy="2749732"/>
          </a:xfrm>
          <a:custGeom>
            <a:avLst/>
            <a:gdLst/>
            <a:ahLst/>
            <a:cxnLst/>
            <a:rect l="l" t="t" r="r" b="b"/>
            <a:pathLst>
              <a:path w="3806531" h="2749732">
                <a:moveTo>
                  <a:pt x="0" y="0"/>
                </a:moveTo>
                <a:lnTo>
                  <a:pt x="3806531" y="0"/>
                </a:lnTo>
                <a:lnTo>
                  <a:pt x="3806531" y="2749732"/>
                </a:lnTo>
                <a:lnTo>
                  <a:pt x="0" y="2749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2993821" y="5005798"/>
            <a:ext cx="1223780" cy="1312364"/>
          </a:xfrm>
          <a:custGeom>
            <a:avLst/>
            <a:gdLst/>
            <a:ahLst/>
            <a:cxnLst/>
            <a:rect l="l" t="t" r="r" b="b"/>
            <a:pathLst>
              <a:path w="1223780" h="1312364">
                <a:moveTo>
                  <a:pt x="0" y="0"/>
                </a:moveTo>
                <a:lnTo>
                  <a:pt x="1223779" y="0"/>
                </a:lnTo>
                <a:lnTo>
                  <a:pt x="1223779" y="1312364"/>
                </a:lnTo>
                <a:lnTo>
                  <a:pt x="0" y="1312364"/>
                </a:lnTo>
                <a:lnTo>
                  <a:pt x="0" y="0"/>
                </a:lnTo>
                <a:close/>
              </a:path>
            </a:pathLst>
          </a:custGeom>
          <a:blipFill>
            <a:blip r:embed="rId6"/>
            <a:stretch>
              <a:fillRect/>
            </a:stretch>
          </a:blipFill>
        </p:spPr>
      </p:sp>
      <p:sp>
        <p:nvSpPr>
          <p:cNvPr id="7" name="Freeform 7"/>
          <p:cNvSpPr/>
          <p:nvPr/>
        </p:nvSpPr>
        <p:spPr>
          <a:xfrm>
            <a:off x="2473633" y="-1476633"/>
            <a:ext cx="3589170" cy="2592716"/>
          </a:xfrm>
          <a:custGeom>
            <a:avLst/>
            <a:gdLst/>
            <a:ahLst/>
            <a:cxnLst/>
            <a:rect l="l" t="t" r="r" b="b"/>
            <a:pathLst>
              <a:path w="3589170" h="2592716">
                <a:moveTo>
                  <a:pt x="0" y="0"/>
                </a:moveTo>
                <a:lnTo>
                  <a:pt x="3589169" y="0"/>
                </a:lnTo>
                <a:lnTo>
                  <a:pt x="3589169" y="2592716"/>
                </a:lnTo>
                <a:lnTo>
                  <a:pt x="0" y="25927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734508" y="2141650"/>
            <a:ext cx="10524792" cy="1010241"/>
          </a:xfrm>
          <a:prstGeom prst="rect">
            <a:avLst/>
          </a:prstGeom>
        </p:spPr>
        <p:txBody>
          <a:bodyPr lIns="0" tIns="0" rIns="0" bIns="0" rtlCol="0" anchor="t">
            <a:spAutoFit/>
          </a:bodyPr>
          <a:lstStyle/>
          <a:p>
            <a:pPr marL="0" lvl="0" indent="0" algn="l">
              <a:lnSpc>
                <a:spcPts val="7414"/>
              </a:lnSpc>
            </a:pPr>
            <a:r>
              <a:rPr lang="en-US" sz="8059">
                <a:solidFill>
                  <a:srgbClr val="1A4370"/>
                </a:solidFill>
                <a:latin typeface="Tropika"/>
                <a:ea typeface="Tropika"/>
                <a:cs typeface="Tropika"/>
                <a:sym typeface="Tropika"/>
              </a:rPr>
              <a:t>BINARY TREE ILLUSTRATION</a:t>
            </a:r>
          </a:p>
        </p:txBody>
      </p:sp>
      <p:sp>
        <p:nvSpPr>
          <p:cNvPr id="9" name="TextBox 9"/>
          <p:cNvSpPr txBox="1"/>
          <p:nvPr/>
        </p:nvSpPr>
        <p:spPr>
          <a:xfrm>
            <a:off x="6734508" y="4515380"/>
            <a:ext cx="10524792" cy="3077520"/>
          </a:xfrm>
          <a:prstGeom prst="rect">
            <a:avLst/>
          </a:prstGeom>
        </p:spPr>
        <p:txBody>
          <a:bodyPr lIns="0" tIns="0" rIns="0" bIns="0" rtlCol="0" anchor="t">
            <a:spAutoFit/>
          </a:bodyPr>
          <a:lstStyle/>
          <a:p>
            <a:pPr marL="0" lvl="0" indent="0" algn="l">
              <a:lnSpc>
                <a:spcPts val="3037"/>
              </a:lnSpc>
            </a:pPr>
            <a:r>
              <a:rPr lang="en-US" sz="3037">
                <a:solidFill>
                  <a:srgbClr val="1A4370"/>
                </a:solidFill>
                <a:latin typeface="Atkinson Hyperlegible"/>
                <a:ea typeface="Atkinson Hyperlegible"/>
                <a:cs typeface="Atkinson Hyperlegible"/>
                <a:sym typeface="Atkinson Hyperlegible"/>
              </a:rPr>
              <a:t>A Binary Tree is a hierarchical data structure where each node has at most two children—left and right. Like branches of a great banyan tree, data flows from root to leaves. Tree traversals (Inorder, Preorder, Postorder) visit nodes in specific orders, each revealing the structure differently. Our animation shows how traversal algorithms navigate through nodes, highlighting each step as wise birds hop from branch to branch, teaching the path of knowledge.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299111" y="1028700"/>
            <a:ext cx="1459177" cy="1783439"/>
          </a:xfrm>
          <a:custGeom>
            <a:avLst/>
            <a:gdLst/>
            <a:ahLst/>
            <a:cxnLst/>
            <a:rect l="l" t="t" r="r" b="b"/>
            <a:pathLst>
              <a:path w="1459177" h="1783439">
                <a:moveTo>
                  <a:pt x="0" y="0"/>
                </a:moveTo>
                <a:lnTo>
                  <a:pt x="1459178" y="0"/>
                </a:lnTo>
                <a:lnTo>
                  <a:pt x="1459178" y="1783439"/>
                </a:lnTo>
                <a:lnTo>
                  <a:pt x="0" y="178343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1195304">
            <a:off x="-220664" y="1418557"/>
            <a:ext cx="3514957" cy="5703784"/>
          </a:xfrm>
          <a:custGeom>
            <a:avLst/>
            <a:gdLst/>
            <a:ahLst/>
            <a:cxnLst/>
            <a:rect l="l" t="t" r="r" b="b"/>
            <a:pathLst>
              <a:path w="3514957" h="5703784">
                <a:moveTo>
                  <a:pt x="0" y="0"/>
                </a:moveTo>
                <a:lnTo>
                  <a:pt x="3514956" y="0"/>
                </a:lnTo>
                <a:lnTo>
                  <a:pt x="3514956" y="5703783"/>
                </a:lnTo>
                <a:lnTo>
                  <a:pt x="0" y="5703783"/>
                </a:lnTo>
                <a:lnTo>
                  <a:pt x="0" y="0"/>
                </a:lnTo>
                <a:close/>
              </a:path>
            </a:pathLst>
          </a:custGeom>
          <a:blipFill>
            <a:blip r:embed="rId3"/>
            <a:stretch>
              <a:fillRect/>
            </a:stretch>
          </a:blipFill>
        </p:spPr>
      </p:sp>
      <p:sp>
        <p:nvSpPr>
          <p:cNvPr id="4" name="Freeform 4"/>
          <p:cNvSpPr/>
          <p:nvPr/>
        </p:nvSpPr>
        <p:spPr>
          <a:xfrm rot="-858797">
            <a:off x="-571670" y="6511982"/>
            <a:ext cx="5396828" cy="4573811"/>
          </a:xfrm>
          <a:custGeom>
            <a:avLst/>
            <a:gdLst/>
            <a:ahLst/>
            <a:cxnLst/>
            <a:rect l="l" t="t" r="r" b="b"/>
            <a:pathLst>
              <a:path w="5396828" h="4573811">
                <a:moveTo>
                  <a:pt x="0" y="0"/>
                </a:moveTo>
                <a:lnTo>
                  <a:pt x="5396827" y="0"/>
                </a:lnTo>
                <a:lnTo>
                  <a:pt x="5396827" y="4573811"/>
                </a:lnTo>
                <a:lnTo>
                  <a:pt x="0" y="4573811"/>
                </a:lnTo>
                <a:lnTo>
                  <a:pt x="0" y="0"/>
                </a:lnTo>
                <a:close/>
              </a:path>
            </a:pathLst>
          </a:custGeom>
          <a:blipFill>
            <a:blip r:embed="rId4"/>
            <a:stretch>
              <a:fillRect/>
            </a:stretch>
          </a:blipFill>
        </p:spPr>
      </p:sp>
      <p:sp>
        <p:nvSpPr>
          <p:cNvPr id="5" name="Freeform 5"/>
          <p:cNvSpPr/>
          <p:nvPr/>
        </p:nvSpPr>
        <p:spPr>
          <a:xfrm>
            <a:off x="5337469" y="9258300"/>
            <a:ext cx="3806531" cy="2749732"/>
          </a:xfrm>
          <a:custGeom>
            <a:avLst/>
            <a:gdLst/>
            <a:ahLst/>
            <a:cxnLst/>
            <a:rect l="l" t="t" r="r" b="b"/>
            <a:pathLst>
              <a:path w="3806531" h="2749732">
                <a:moveTo>
                  <a:pt x="0" y="0"/>
                </a:moveTo>
                <a:lnTo>
                  <a:pt x="3806531" y="0"/>
                </a:lnTo>
                <a:lnTo>
                  <a:pt x="3806531" y="2749732"/>
                </a:lnTo>
                <a:lnTo>
                  <a:pt x="0" y="2749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3002958" y="5117613"/>
            <a:ext cx="1184168" cy="1184168"/>
          </a:xfrm>
          <a:custGeom>
            <a:avLst/>
            <a:gdLst/>
            <a:ahLst/>
            <a:cxnLst/>
            <a:rect l="l" t="t" r="r" b="b"/>
            <a:pathLst>
              <a:path w="1184168" h="1184168">
                <a:moveTo>
                  <a:pt x="0" y="0"/>
                </a:moveTo>
                <a:lnTo>
                  <a:pt x="1184168" y="0"/>
                </a:lnTo>
                <a:lnTo>
                  <a:pt x="1184168" y="1184167"/>
                </a:lnTo>
                <a:lnTo>
                  <a:pt x="0" y="1184167"/>
                </a:lnTo>
                <a:lnTo>
                  <a:pt x="0" y="0"/>
                </a:lnTo>
                <a:close/>
              </a:path>
            </a:pathLst>
          </a:custGeom>
          <a:blipFill>
            <a:blip r:embed="rId6"/>
            <a:stretch>
              <a:fillRect/>
            </a:stretch>
          </a:blipFill>
        </p:spPr>
      </p:sp>
      <p:sp>
        <p:nvSpPr>
          <p:cNvPr id="7" name="Freeform 7"/>
          <p:cNvSpPr/>
          <p:nvPr/>
        </p:nvSpPr>
        <p:spPr>
          <a:xfrm>
            <a:off x="2473633" y="-1476633"/>
            <a:ext cx="3589170" cy="2592716"/>
          </a:xfrm>
          <a:custGeom>
            <a:avLst/>
            <a:gdLst/>
            <a:ahLst/>
            <a:cxnLst/>
            <a:rect l="l" t="t" r="r" b="b"/>
            <a:pathLst>
              <a:path w="3589170" h="2592716">
                <a:moveTo>
                  <a:pt x="0" y="0"/>
                </a:moveTo>
                <a:lnTo>
                  <a:pt x="3589169" y="0"/>
                </a:lnTo>
                <a:lnTo>
                  <a:pt x="3589169" y="2592716"/>
                </a:lnTo>
                <a:lnTo>
                  <a:pt x="0" y="25927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734508" y="2397121"/>
            <a:ext cx="10524792" cy="1294885"/>
          </a:xfrm>
          <a:prstGeom prst="rect">
            <a:avLst/>
          </a:prstGeom>
        </p:spPr>
        <p:txBody>
          <a:bodyPr lIns="0" tIns="0" rIns="0" bIns="0" rtlCol="0" anchor="t">
            <a:spAutoFit/>
          </a:bodyPr>
          <a:lstStyle/>
          <a:p>
            <a:pPr marL="0" lvl="0" indent="0" algn="l">
              <a:lnSpc>
                <a:spcPts val="9535"/>
              </a:lnSpc>
            </a:pPr>
            <a:r>
              <a:rPr lang="en-US" sz="10364">
                <a:solidFill>
                  <a:srgbClr val="1A4370"/>
                </a:solidFill>
                <a:latin typeface="Tropika"/>
                <a:ea typeface="Tropika"/>
                <a:cs typeface="Tropika"/>
                <a:sym typeface="Tropika"/>
              </a:rPr>
              <a:t>HOW USERS INTERACT</a:t>
            </a:r>
          </a:p>
        </p:txBody>
      </p:sp>
      <p:sp>
        <p:nvSpPr>
          <p:cNvPr id="9" name="TextBox 9"/>
          <p:cNvSpPr txBox="1"/>
          <p:nvPr/>
        </p:nvSpPr>
        <p:spPr>
          <a:xfrm>
            <a:off x="8797808" y="4704175"/>
            <a:ext cx="8461492" cy="1553465"/>
          </a:xfrm>
          <a:prstGeom prst="rect">
            <a:avLst/>
          </a:prstGeom>
        </p:spPr>
        <p:txBody>
          <a:bodyPr lIns="0" tIns="0" rIns="0" bIns="0" rtlCol="0" anchor="t">
            <a:spAutoFit/>
          </a:bodyPr>
          <a:lstStyle/>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Key Controls: Select your concept from the menu, then use start, pause, and reset buttons to control the animation. Step through each stage at your own pace to fully understand the process.</a:t>
            </a:r>
          </a:p>
        </p:txBody>
      </p:sp>
      <p:grpSp>
        <p:nvGrpSpPr>
          <p:cNvPr id="10" name="Group 10"/>
          <p:cNvGrpSpPr/>
          <p:nvPr/>
        </p:nvGrpSpPr>
        <p:grpSpPr>
          <a:xfrm>
            <a:off x="7522784" y="4656550"/>
            <a:ext cx="514518" cy="51451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9F6E"/>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8797808" y="6612585"/>
            <a:ext cx="8461492" cy="1934465"/>
          </a:xfrm>
          <a:prstGeom prst="rect">
            <a:avLst/>
          </a:prstGeom>
        </p:spPr>
        <p:txBody>
          <a:bodyPr lIns="0" tIns="0" rIns="0" bIns="0" rtlCol="0" anchor="t">
            <a:spAutoFit/>
          </a:bodyPr>
          <a:lstStyle/>
          <a:p>
            <a:pPr marL="0" lvl="0" indent="0" algn="l">
              <a:lnSpc>
                <a:spcPts val="3035"/>
              </a:lnSpc>
            </a:pPr>
            <a:r>
              <a:rPr lang="en-US" sz="3035">
                <a:solidFill>
                  <a:srgbClr val="1A4370"/>
                </a:solidFill>
                <a:latin typeface="Atkinson Hyperlegible"/>
                <a:ea typeface="Atkinson Hyperlegible"/>
                <a:cs typeface="Atkinson Hyperlegible"/>
                <a:sym typeface="Atkinson Hyperlegible"/>
              </a:rPr>
              <a:t>User Flow: Select concept → Watch animation → Control playback. As the Panchatantra wisdom teaches, "The learner guides the story at their own pace" – explore DSA concepts like a curious student with a wise teacher.</a:t>
            </a:r>
          </a:p>
        </p:txBody>
      </p:sp>
      <p:grpSp>
        <p:nvGrpSpPr>
          <p:cNvPr id="14" name="Group 14"/>
          <p:cNvGrpSpPr/>
          <p:nvPr/>
        </p:nvGrpSpPr>
        <p:grpSpPr>
          <a:xfrm>
            <a:off x="7522784" y="6564960"/>
            <a:ext cx="514518" cy="514518"/>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9F6E"/>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299111" y="1028700"/>
            <a:ext cx="1459177" cy="1783439"/>
          </a:xfrm>
          <a:custGeom>
            <a:avLst/>
            <a:gdLst/>
            <a:ahLst/>
            <a:cxnLst/>
            <a:rect l="l" t="t" r="r" b="b"/>
            <a:pathLst>
              <a:path w="1459177" h="1783439">
                <a:moveTo>
                  <a:pt x="0" y="0"/>
                </a:moveTo>
                <a:lnTo>
                  <a:pt x="1459178" y="0"/>
                </a:lnTo>
                <a:lnTo>
                  <a:pt x="1459178" y="1783439"/>
                </a:lnTo>
                <a:lnTo>
                  <a:pt x="0" y="178343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rot="1195304">
            <a:off x="299613" y="1714719"/>
            <a:ext cx="2792399" cy="5031349"/>
          </a:xfrm>
          <a:custGeom>
            <a:avLst/>
            <a:gdLst/>
            <a:ahLst/>
            <a:cxnLst/>
            <a:rect l="l" t="t" r="r" b="b"/>
            <a:pathLst>
              <a:path w="2792399" h="5031349">
                <a:moveTo>
                  <a:pt x="0" y="0"/>
                </a:moveTo>
                <a:lnTo>
                  <a:pt x="2792399" y="0"/>
                </a:lnTo>
                <a:lnTo>
                  <a:pt x="2792399" y="5031349"/>
                </a:lnTo>
                <a:lnTo>
                  <a:pt x="0" y="5031349"/>
                </a:lnTo>
                <a:lnTo>
                  <a:pt x="0" y="0"/>
                </a:lnTo>
                <a:close/>
              </a:path>
            </a:pathLst>
          </a:custGeom>
          <a:blipFill>
            <a:blip r:embed="rId3"/>
            <a:stretch>
              <a:fillRect/>
            </a:stretch>
          </a:blipFill>
        </p:spPr>
      </p:sp>
      <p:sp>
        <p:nvSpPr>
          <p:cNvPr id="4" name="Freeform 4"/>
          <p:cNvSpPr/>
          <p:nvPr/>
        </p:nvSpPr>
        <p:spPr>
          <a:xfrm rot="-858797">
            <a:off x="-104973" y="6272119"/>
            <a:ext cx="4332538" cy="5254062"/>
          </a:xfrm>
          <a:custGeom>
            <a:avLst/>
            <a:gdLst/>
            <a:ahLst/>
            <a:cxnLst/>
            <a:rect l="l" t="t" r="r" b="b"/>
            <a:pathLst>
              <a:path w="4332538" h="5254062">
                <a:moveTo>
                  <a:pt x="0" y="0"/>
                </a:moveTo>
                <a:lnTo>
                  <a:pt x="4332538" y="0"/>
                </a:lnTo>
                <a:lnTo>
                  <a:pt x="4332538" y="5254061"/>
                </a:lnTo>
                <a:lnTo>
                  <a:pt x="0" y="5254061"/>
                </a:lnTo>
                <a:lnTo>
                  <a:pt x="0" y="0"/>
                </a:lnTo>
                <a:close/>
              </a:path>
            </a:pathLst>
          </a:custGeom>
          <a:blipFill>
            <a:blip r:embed="rId4"/>
            <a:stretch>
              <a:fillRect/>
            </a:stretch>
          </a:blipFill>
        </p:spPr>
      </p:sp>
      <p:sp>
        <p:nvSpPr>
          <p:cNvPr id="5" name="Freeform 5"/>
          <p:cNvSpPr/>
          <p:nvPr/>
        </p:nvSpPr>
        <p:spPr>
          <a:xfrm>
            <a:off x="5337469" y="9258300"/>
            <a:ext cx="3806531" cy="2749732"/>
          </a:xfrm>
          <a:custGeom>
            <a:avLst/>
            <a:gdLst/>
            <a:ahLst/>
            <a:cxnLst/>
            <a:rect l="l" t="t" r="r" b="b"/>
            <a:pathLst>
              <a:path w="3806531" h="2749732">
                <a:moveTo>
                  <a:pt x="0" y="0"/>
                </a:moveTo>
                <a:lnTo>
                  <a:pt x="3806531" y="0"/>
                </a:lnTo>
                <a:lnTo>
                  <a:pt x="3806531" y="2749732"/>
                </a:lnTo>
                <a:lnTo>
                  <a:pt x="0" y="2749732"/>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2876051" y="5052731"/>
            <a:ext cx="1436576" cy="1327037"/>
          </a:xfrm>
          <a:custGeom>
            <a:avLst/>
            <a:gdLst/>
            <a:ahLst/>
            <a:cxnLst/>
            <a:rect l="l" t="t" r="r" b="b"/>
            <a:pathLst>
              <a:path w="1436576" h="1327037">
                <a:moveTo>
                  <a:pt x="0" y="0"/>
                </a:moveTo>
                <a:lnTo>
                  <a:pt x="1436576" y="0"/>
                </a:lnTo>
                <a:lnTo>
                  <a:pt x="1436576" y="1327037"/>
                </a:lnTo>
                <a:lnTo>
                  <a:pt x="0" y="1327037"/>
                </a:lnTo>
                <a:lnTo>
                  <a:pt x="0" y="0"/>
                </a:lnTo>
                <a:close/>
              </a:path>
            </a:pathLst>
          </a:custGeom>
          <a:blipFill>
            <a:blip r:embed="rId6"/>
            <a:stretch>
              <a:fillRect/>
            </a:stretch>
          </a:blipFill>
        </p:spPr>
      </p:sp>
      <p:sp>
        <p:nvSpPr>
          <p:cNvPr id="7" name="Freeform 7"/>
          <p:cNvSpPr/>
          <p:nvPr/>
        </p:nvSpPr>
        <p:spPr>
          <a:xfrm>
            <a:off x="2473633" y="-1476633"/>
            <a:ext cx="3589170" cy="2592716"/>
          </a:xfrm>
          <a:custGeom>
            <a:avLst/>
            <a:gdLst/>
            <a:ahLst/>
            <a:cxnLst/>
            <a:rect l="l" t="t" r="r" b="b"/>
            <a:pathLst>
              <a:path w="3589170" h="2592716">
                <a:moveTo>
                  <a:pt x="0" y="0"/>
                </a:moveTo>
                <a:lnTo>
                  <a:pt x="3589169" y="0"/>
                </a:lnTo>
                <a:lnTo>
                  <a:pt x="3589169" y="2592716"/>
                </a:lnTo>
                <a:lnTo>
                  <a:pt x="0" y="259271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6734508" y="2122373"/>
            <a:ext cx="9761085" cy="1058169"/>
          </a:xfrm>
          <a:prstGeom prst="rect">
            <a:avLst/>
          </a:prstGeom>
        </p:spPr>
        <p:txBody>
          <a:bodyPr lIns="0" tIns="0" rIns="0" bIns="0" rtlCol="0" anchor="t">
            <a:spAutoFit/>
          </a:bodyPr>
          <a:lstStyle/>
          <a:p>
            <a:pPr marL="0" lvl="0" indent="0" algn="l">
              <a:lnSpc>
                <a:spcPts val="7738"/>
              </a:lnSpc>
            </a:pPr>
            <a:r>
              <a:rPr lang="en-US" sz="8411">
                <a:solidFill>
                  <a:srgbClr val="1A4370"/>
                </a:solidFill>
                <a:latin typeface="Tropika"/>
                <a:ea typeface="Tropika"/>
                <a:cs typeface="Tropika"/>
                <a:sym typeface="Tropika"/>
              </a:rPr>
              <a:t>BENEFITS FOR STUDENTS</a:t>
            </a:r>
          </a:p>
        </p:txBody>
      </p:sp>
      <p:grpSp>
        <p:nvGrpSpPr>
          <p:cNvPr id="9" name="Group 9"/>
          <p:cNvGrpSpPr/>
          <p:nvPr/>
        </p:nvGrpSpPr>
        <p:grpSpPr>
          <a:xfrm>
            <a:off x="7522784" y="4611270"/>
            <a:ext cx="514518" cy="51451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9F6E"/>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8466007" y="4486578"/>
            <a:ext cx="5038955" cy="812171"/>
          </a:xfrm>
          <a:prstGeom prst="rect">
            <a:avLst/>
          </a:prstGeom>
        </p:spPr>
        <p:txBody>
          <a:bodyPr lIns="0" tIns="0" rIns="0" bIns="0" rtlCol="0" anchor="t">
            <a:spAutoFit/>
          </a:bodyPr>
          <a:lstStyle/>
          <a:p>
            <a:pPr marL="0" lvl="0" indent="0" algn="l">
              <a:lnSpc>
                <a:spcPts val="3100"/>
              </a:lnSpc>
            </a:pPr>
            <a:r>
              <a:rPr lang="en-US" sz="3100">
                <a:solidFill>
                  <a:srgbClr val="1A4370"/>
                </a:solidFill>
                <a:latin typeface="Atkinson Hyperlegible"/>
                <a:ea typeface="Atkinson Hyperlegible"/>
                <a:cs typeface="Atkinson Hyperlegible"/>
                <a:sym typeface="Atkinson Hyperlegible"/>
              </a:rPr>
              <a:t>Makes DSA Accessible &amp; Clear</a:t>
            </a:r>
          </a:p>
        </p:txBody>
      </p:sp>
      <p:grpSp>
        <p:nvGrpSpPr>
          <p:cNvPr id="13" name="Group 13"/>
          <p:cNvGrpSpPr/>
          <p:nvPr/>
        </p:nvGrpSpPr>
        <p:grpSpPr>
          <a:xfrm>
            <a:off x="7522784" y="5639802"/>
            <a:ext cx="514518" cy="51451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9F6E"/>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TextBox 16"/>
          <p:cNvSpPr txBox="1"/>
          <p:nvPr/>
        </p:nvSpPr>
        <p:spPr>
          <a:xfrm>
            <a:off x="8466007" y="5515110"/>
            <a:ext cx="5038955" cy="812171"/>
          </a:xfrm>
          <a:prstGeom prst="rect">
            <a:avLst/>
          </a:prstGeom>
        </p:spPr>
        <p:txBody>
          <a:bodyPr lIns="0" tIns="0" rIns="0" bIns="0" rtlCol="0" anchor="t">
            <a:spAutoFit/>
          </a:bodyPr>
          <a:lstStyle/>
          <a:p>
            <a:pPr marL="0" lvl="0" indent="0" algn="l">
              <a:lnSpc>
                <a:spcPts val="3100"/>
              </a:lnSpc>
            </a:pPr>
            <a:r>
              <a:rPr lang="en-US" sz="3100">
                <a:solidFill>
                  <a:srgbClr val="1A4370"/>
                </a:solidFill>
                <a:latin typeface="Atkinson Hyperlegible"/>
                <a:ea typeface="Atkinson Hyperlegible"/>
                <a:cs typeface="Atkinson Hyperlegible"/>
                <a:sym typeface="Atkinson Hyperlegible"/>
              </a:rPr>
              <a:t>Interactive Visuals Aid Comprehension</a:t>
            </a:r>
          </a:p>
        </p:txBody>
      </p:sp>
      <p:grpSp>
        <p:nvGrpSpPr>
          <p:cNvPr id="17" name="Group 17"/>
          <p:cNvGrpSpPr/>
          <p:nvPr/>
        </p:nvGrpSpPr>
        <p:grpSpPr>
          <a:xfrm>
            <a:off x="7522784" y="6668334"/>
            <a:ext cx="514518" cy="514518"/>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9F6E"/>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0" name="TextBox 20"/>
          <p:cNvSpPr txBox="1"/>
          <p:nvPr/>
        </p:nvSpPr>
        <p:spPr>
          <a:xfrm>
            <a:off x="8466007" y="6543641"/>
            <a:ext cx="5038955" cy="812171"/>
          </a:xfrm>
          <a:prstGeom prst="rect">
            <a:avLst/>
          </a:prstGeom>
        </p:spPr>
        <p:txBody>
          <a:bodyPr lIns="0" tIns="0" rIns="0" bIns="0" rtlCol="0" anchor="t">
            <a:spAutoFit/>
          </a:bodyPr>
          <a:lstStyle/>
          <a:p>
            <a:pPr marL="0" lvl="0" indent="0" algn="l">
              <a:lnSpc>
                <a:spcPts val="3100"/>
              </a:lnSpc>
            </a:pPr>
            <a:r>
              <a:rPr lang="en-US" sz="3100">
                <a:solidFill>
                  <a:srgbClr val="1A4370"/>
                </a:solidFill>
                <a:latin typeface="Atkinson Hyperlegible"/>
                <a:ea typeface="Atkinson Hyperlegible"/>
                <a:cs typeface="Atkinson Hyperlegible"/>
                <a:sym typeface="Atkinson Hyperlegible"/>
              </a:rPr>
              <a:t>Self-Paced Learning with Control</a:t>
            </a:r>
          </a:p>
        </p:txBody>
      </p:sp>
      <p:grpSp>
        <p:nvGrpSpPr>
          <p:cNvPr id="21" name="Group 21"/>
          <p:cNvGrpSpPr/>
          <p:nvPr/>
        </p:nvGrpSpPr>
        <p:grpSpPr>
          <a:xfrm>
            <a:off x="7522784" y="7696866"/>
            <a:ext cx="514518" cy="514518"/>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9F6E"/>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4" name="TextBox 24"/>
          <p:cNvSpPr txBox="1"/>
          <p:nvPr/>
        </p:nvSpPr>
        <p:spPr>
          <a:xfrm>
            <a:off x="8466007" y="7572173"/>
            <a:ext cx="5038955" cy="812171"/>
          </a:xfrm>
          <a:prstGeom prst="rect">
            <a:avLst/>
          </a:prstGeom>
        </p:spPr>
        <p:txBody>
          <a:bodyPr lIns="0" tIns="0" rIns="0" bIns="0" rtlCol="0" anchor="t">
            <a:spAutoFit/>
          </a:bodyPr>
          <a:lstStyle/>
          <a:p>
            <a:pPr marL="0" lvl="0" indent="0" algn="l">
              <a:lnSpc>
                <a:spcPts val="3100"/>
              </a:lnSpc>
            </a:pPr>
            <a:r>
              <a:rPr lang="en-US" sz="3100">
                <a:solidFill>
                  <a:srgbClr val="1A4370"/>
                </a:solidFill>
                <a:latin typeface="Atkinson Hyperlegible"/>
                <a:ea typeface="Atkinson Hyperlegible"/>
                <a:cs typeface="Atkinson Hyperlegible"/>
                <a:sym typeface="Atkinson Hyperlegible"/>
              </a:rPr>
              <a:t>Supports Diverse Learning Styles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7DE"/>
        </a:solidFill>
        <a:effectLst/>
      </p:bgPr>
    </p:bg>
    <p:spTree>
      <p:nvGrpSpPr>
        <p:cNvPr id="1" name=""/>
        <p:cNvGrpSpPr/>
        <p:nvPr/>
      </p:nvGrpSpPr>
      <p:grpSpPr>
        <a:xfrm>
          <a:off x="0" y="0"/>
          <a:ext cx="0" cy="0"/>
          <a:chOff x="0" y="0"/>
          <a:chExt cx="0" cy="0"/>
        </a:xfrm>
      </p:grpSpPr>
      <p:sp>
        <p:nvSpPr>
          <p:cNvPr id="2" name="Freeform 2"/>
          <p:cNvSpPr/>
          <p:nvPr/>
        </p:nvSpPr>
        <p:spPr>
          <a:xfrm>
            <a:off x="14881289" y="-709978"/>
            <a:ext cx="4296937" cy="4761149"/>
          </a:xfrm>
          <a:custGeom>
            <a:avLst/>
            <a:gdLst/>
            <a:ahLst/>
            <a:cxnLst/>
            <a:rect l="l" t="t" r="r" b="b"/>
            <a:pathLst>
              <a:path w="4296937" h="4761149">
                <a:moveTo>
                  <a:pt x="0" y="0"/>
                </a:moveTo>
                <a:lnTo>
                  <a:pt x="4296937" y="0"/>
                </a:lnTo>
                <a:lnTo>
                  <a:pt x="4296937" y="4761149"/>
                </a:lnTo>
                <a:lnTo>
                  <a:pt x="0" y="4761149"/>
                </a:lnTo>
                <a:lnTo>
                  <a:pt x="0" y="0"/>
                </a:lnTo>
                <a:close/>
              </a:path>
            </a:pathLst>
          </a:custGeom>
          <a:blipFill>
            <a:blip r:embed="rId2"/>
            <a:stretch>
              <a:fillRect/>
            </a:stretch>
          </a:blipFill>
        </p:spPr>
      </p:sp>
      <p:sp>
        <p:nvSpPr>
          <p:cNvPr id="3" name="Freeform 3"/>
          <p:cNvSpPr/>
          <p:nvPr/>
        </p:nvSpPr>
        <p:spPr>
          <a:xfrm>
            <a:off x="679915" y="4467003"/>
            <a:ext cx="1436576" cy="1352994"/>
          </a:xfrm>
          <a:custGeom>
            <a:avLst/>
            <a:gdLst/>
            <a:ahLst/>
            <a:cxnLst/>
            <a:rect l="l" t="t" r="r" b="b"/>
            <a:pathLst>
              <a:path w="1436576" h="1352994">
                <a:moveTo>
                  <a:pt x="0" y="0"/>
                </a:moveTo>
                <a:lnTo>
                  <a:pt x="1436576" y="0"/>
                </a:lnTo>
                <a:lnTo>
                  <a:pt x="1436576" y="1352994"/>
                </a:lnTo>
                <a:lnTo>
                  <a:pt x="0" y="135299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6062724" y="4819038"/>
            <a:ext cx="1459177" cy="1783439"/>
          </a:xfrm>
          <a:custGeom>
            <a:avLst/>
            <a:gdLst/>
            <a:ahLst/>
            <a:cxnLst/>
            <a:rect l="l" t="t" r="r" b="b"/>
            <a:pathLst>
              <a:path w="1459177" h="1783439">
                <a:moveTo>
                  <a:pt x="0" y="0"/>
                </a:moveTo>
                <a:lnTo>
                  <a:pt x="1459177" y="0"/>
                </a:lnTo>
                <a:lnTo>
                  <a:pt x="1459177" y="1783439"/>
                </a:lnTo>
                <a:lnTo>
                  <a:pt x="0" y="178343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4429016" y="7539069"/>
            <a:ext cx="4794630" cy="3098530"/>
          </a:xfrm>
          <a:custGeom>
            <a:avLst/>
            <a:gdLst/>
            <a:ahLst/>
            <a:cxnLst/>
            <a:rect l="l" t="t" r="r" b="b"/>
            <a:pathLst>
              <a:path w="4794630" h="3098530">
                <a:moveTo>
                  <a:pt x="0" y="0"/>
                </a:moveTo>
                <a:lnTo>
                  <a:pt x="4794631" y="0"/>
                </a:lnTo>
                <a:lnTo>
                  <a:pt x="4794631" y="3098530"/>
                </a:lnTo>
                <a:lnTo>
                  <a:pt x="0" y="3098530"/>
                </a:lnTo>
                <a:lnTo>
                  <a:pt x="0" y="0"/>
                </a:lnTo>
                <a:close/>
              </a:path>
            </a:pathLst>
          </a:custGeom>
          <a:blipFill>
            <a:blip r:embed="rId5"/>
            <a:stretch>
              <a:fillRect/>
            </a:stretch>
          </a:blipFill>
        </p:spPr>
      </p:sp>
      <p:sp>
        <p:nvSpPr>
          <p:cNvPr id="6" name="Freeform 6"/>
          <p:cNvSpPr/>
          <p:nvPr/>
        </p:nvSpPr>
        <p:spPr>
          <a:xfrm rot="1195304">
            <a:off x="326322" y="-869038"/>
            <a:ext cx="3426296" cy="4216980"/>
          </a:xfrm>
          <a:custGeom>
            <a:avLst/>
            <a:gdLst/>
            <a:ahLst/>
            <a:cxnLst/>
            <a:rect l="l" t="t" r="r" b="b"/>
            <a:pathLst>
              <a:path w="3426296" h="4216980">
                <a:moveTo>
                  <a:pt x="0" y="0"/>
                </a:moveTo>
                <a:lnTo>
                  <a:pt x="3426296" y="0"/>
                </a:lnTo>
                <a:lnTo>
                  <a:pt x="3426296" y="4216979"/>
                </a:lnTo>
                <a:lnTo>
                  <a:pt x="0" y="4216979"/>
                </a:lnTo>
                <a:lnTo>
                  <a:pt x="0" y="0"/>
                </a:lnTo>
                <a:close/>
              </a:path>
            </a:pathLst>
          </a:custGeom>
          <a:blipFill>
            <a:blip r:embed="rId6"/>
            <a:stretch>
              <a:fillRect/>
            </a:stretch>
          </a:blipFill>
        </p:spPr>
      </p:sp>
      <p:sp>
        <p:nvSpPr>
          <p:cNvPr id="7" name="Freeform 7"/>
          <p:cNvSpPr/>
          <p:nvPr/>
        </p:nvSpPr>
        <p:spPr>
          <a:xfrm rot="-858797">
            <a:off x="-561550" y="4713206"/>
            <a:ext cx="4957616" cy="7427140"/>
          </a:xfrm>
          <a:custGeom>
            <a:avLst/>
            <a:gdLst/>
            <a:ahLst/>
            <a:cxnLst/>
            <a:rect l="l" t="t" r="r" b="b"/>
            <a:pathLst>
              <a:path w="4957616" h="7427140">
                <a:moveTo>
                  <a:pt x="0" y="0"/>
                </a:moveTo>
                <a:lnTo>
                  <a:pt x="4957617" y="0"/>
                </a:lnTo>
                <a:lnTo>
                  <a:pt x="4957617" y="7427140"/>
                </a:lnTo>
                <a:lnTo>
                  <a:pt x="0" y="7427140"/>
                </a:lnTo>
                <a:lnTo>
                  <a:pt x="0" y="0"/>
                </a:lnTo>
                <a:close/>
              </a:path>
            </a:pathLst>
          </a:custGeom>
          <a:blipFill>
            <a:blip r:embed="rId7"/>
            <a:stretch>
              <a:fillRect/>
            </a:stretch>
          </a:blipFill>
        </p:spPr>
      </p:sp>
      <p:sp>
        <p:nvSpPr>
          <p:cNvPr id="8" name="Freeform 8"/>
          <p:cNvSpPr/>
          <p:nvPr/>
        </p:nvSpPr>
        <p:spPr>
          <a:xfrm>
            <a:off x="6356689" y="-2339148"/>
            <a:ext cx="5387334" cy="3919285"/>
          </a:xfrm>
          <a:custGeom>
            <a:avLst/>
            <a:gdLst/>
            <a:ahLst/>
            <a:cxnLst/>
            <a:rect l="l" t="t" r="r" b="b"/>
            <a:pathLst>
              <a:path w="5387334" h="3919285">
                <a:moveTo>
                  <a:pt x="0" y="0"/>
                </a:moveTo>
                <a:lnTo>
                  <a:pt x="5387333" y="0"/>
                </a:lnTo>
                <a:lnTo>
                  <a:pt x="5387333" y="3919285"/>
                </a:lnTo>
                <a:lnTo>
                  <a:pt x="0" y="3919285"/>
                </a:lnTo>
                <a:lnTo>
                  <a:pt x="0" y="0"/>
                </a:lnTo>
                <a:close/>
              </a:path>
            </a:pathLst>
          </a:custGeom>
          <a:blipFill>
            <a:blip r:embed="rId8"/>
            <a:stretch>
              <a:fillRect/>
            </a:stretch>
          </a:blipFill>
        </p:spPr>
      </p:sp>
      <p:sp>
        <p:nvSpPr>
          <p:cNvPr id="9" name="Freeform 9"/>
          <p:cNvSpPr/>
          <p:nvPr/>
        </p:nvSpPr>
        <p:spPr>
          <a:xfrm>
            <a:off x="6811544" y="8845849"/>
            <a:ext cx="5189223" cy="4262576"/>
          </a:xfrm>
          <a:custGeom>
            <a:avLst/>
            <a:gdLst/>
            <a:ahLst/>
            <a:cxnLst/>
            <a:rect l="l" t="t" r="r" b="b"/>
            <a:pathLst>
              <a:path w="5189223" h="4262576">
                <a:moveTo>
                  <a:pt x="0" y="0"/>
                </a:moveTo>
                <a:lnTo>
                  <a:pt x="5189223" y="0"/>
                </a:lnTo>
                <a:lnTo>
                  <a:pt x="5189223" y="4262577"/>
                </a:lnTo>
                <a:lnTo>
                  <a:pt x="0" y="4262577"/>
                </a:lnTo>
                <a:lnTo>
                  <a:pt x="0" y="0"/>
                </a:lnTo>
                <a:close/>
              </a:path>
            </a:pathLst>
          </a:custGeom>
          <a:blipFill>
            <a:blip r:embed="rId9"/>
            <a:stretch>
              <a:fillRect/>
            </a:stretch>
          </a:blipFill>
        </p:spPr>
      </p:sp>
      <p:sp>
        <p:nvSpPr>
          <p:cNvPr id="10" name="TextBox 10"/>
          <p:cNvSpPr txBox="1"/>
          <p:nvPr/>
        </p:nvSpPr>
        <p:spPr>
          <a:xfrm>
            <a:off x="4353215" y="3113630"/>
            <a:ext cx="9581569" cy="4555041"/>
          </a:xfrm>
          <a:prstGeom prst="rect">
            <a:avLst/>
          </a:prstGeom>
        </p:spPr>
        <p:txBody>
          <a:bodyPr lIns="0" tIns="0" rIns="0" bIns="0" rtlCol="0" anchor="t">
            <a:spAutoFit/>
          </a:bodyPr>
          <a:lstStyle/>
          <a:p>
            <a:pPr marL="0" lvl="0" indent="0" algn="ctr">
              <a:lnSpc>
                <a:spcPts val="17304"/>
              </a:lnSpc>
            </a:pPr>
            <a:r>
              <a:rPr lang="en-US" sz="18808">
                <a:solidFill>
                  <a:srgbClr val="1A4370"/>
                </a:solidFill>
                <a:latin typeface="Tropika"/>
                <a:ea typeface="Tropika"/>
                <a:cs typeface="Tropika"/>
                <a:sym typeface="Tropik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579</Words>
  <Application>Microsoft Office PowerPoint</Application>
  <PresentationFormat>Custom</PresentationFormat>
  <Paragraphs>26</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Atkinson Hyperlegible</vt:lpstr>
      <vt:lpstr>Arial</vt:lpstr>
      <vt:lpstr>Tropika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Interactive DSA Storyboard: Website Overview</dc:title>
  <cp:lastModifiedBy>aishwarya shetty</cp:lastModifiedBy>
  <cp:revision>1</cp:revision>
  <dcterms:created xsi:type="dcterms:W3CDTF">2006-08-16T00:00:00Z</dcterms:created>
  <dcterms:modified xsi:type="dcterms:W3CDTF">2026-04-08T08:52:36Z</dcterms:modified>
  <dc:identifier>DAHGQBNCsgg</dc:identifier>
</cp:coreProperties>
</file>